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pgxllm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9E8A"/>
                </a:solidFill>
              </a:rPr>
              <a:t>PostgreSQL Text-to-SQL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F5EA"/>
                </a:solidFill>
              </a:rPr>
              <a:t>자연어로 묻고, SQL로 답하다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94760"/>
            <a:ext cx="4114800" cy="36576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Multi-LLM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Schema Linking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18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Query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657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Explain Visualize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13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Dialect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Semantic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System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645920"/>
            <a:ext cx="4114800" cy="54864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자연어 질문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194560"/>
            <a:ext cx="457200" cy="2011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395728"/>
            <a:ext cx="41148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S1  질문 이해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944368"/>
            <a:ext cx="457200" cy="2011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145536"/>
            <a:ext cx="41148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14553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S2  스키마 링킹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694176"/>
            <a:ext cx="457200" cy="2011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3895344"/>
            <a:ext cx="41148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9534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S3  SQL 생성 (LLM)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4443984"/>
            <a:ext cx="457200" cy="2011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645152"/>
            <a:ext cx="41148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451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S4  검증 · 보정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5193792"/>
            <a:ext cx="457200" cy="2011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5394960"/>
            <a:ext cx="41148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394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SQL + 설명 반환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기능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pgxllm이 제공하는 8가지 핵심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88920" cy="22402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8892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Text-to-SQL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자연어 질문 → SQL 자동 변환
4단계 파이프라인 (S1~S4)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788920" cy="2240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23444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234440"/>
            <a:ext cx="2788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다중 LLM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828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Ollama · vLLM · OpenAI
Anthropic · IBM watsonx.ai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234440"/>
            <a:ext cx="2788920" cy="22402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23444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234440"/>
            <a:ext cx="278892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스키마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828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pg_catalog 기반 테이블·컬럼
인덱스·통계 실시간 조회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234440"/>
            <a:ext cx="2788920" cy="2240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123444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1234440"/>
            <a:ext cx="2788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쿼리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1828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pg_stat_statements 수집
EXPLAIN ANALYZE 시각화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03320"/>
            <a:ext cx="2788920" cy="22402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0332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703320"/>
            <a:ext cx="278892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94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쿼리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2976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기반 최적화 제안
인덱스 추가 · 재작성 권고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3703320"/>
            <a:ext cx="2788920" cy="2240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370332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18688" y="3703320"/>
            <a:ext cx="2788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3794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Graph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42976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FK · 분석 · 추론 기반
테이블 관계 그래프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3703320"/>
            <a:ext cx="2788920" cy="22402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6" y="370332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703320"/>
            <a:ext cx="278892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3794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Dialect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42976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컬럼별 SQL 작성 규칙
자동 감지 + 수동 등록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07424" y="3703320"/>
            <a:ext cx="2788920" cy="2240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07424" y="3703320"/>
            <a:ext cx="2788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07424" y="3703320"/>
            <a:ext cx="2788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4584" y="3794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Semantic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42976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TF-IDF 유사 질문 캐시
LLM 호출 최소화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컴포넌트 구성 및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컴포넌트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core/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653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llm/factory.py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579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pipeline.py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s1~s4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intelligence/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358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refresh.py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284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rule_engine.py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graph/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13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postgresql / age / neo4j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cache/  (TF-IDF)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988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parser/ (ANTLR4)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9145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web/app.py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840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cli.py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43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Core Pipeline 흐름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572768"/>
            <a:ext cx="3840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5727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자연어 질문 입력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2075688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2240280"/>
            <a:ext cx="384048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240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Semantic Cache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97696" y="2743200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2907792"/>
            <a:ext cx="3840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9077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S1  질문 이해 · 패턴 감지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7696" y="3410712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3575304"/>
            <a:ext cx="3840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35753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S2  스키마 링킹 · JOIN 경로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4078224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4242816"/>
            <a:ext cx="3840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24281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 LLM SQL 생성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4745736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0" y="4910328"/>
            <a:ext cx="3840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9103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S4  SQL 검증 · 자동 보정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97696" y="5413248"/>
            <a:ext cx="109728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0" y="5577840"/>
            <a:ext cx="3840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5577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결과 캐시 저장 → SQL 반환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066543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59E0B"/>
                </a:solidFill>
              </a:rPr>
              <a:t>↩ Cache HIT → 즉시 반환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Core Pipeline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4단계 Text-to-SQL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834640" cy="8229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질문 이해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65960"/>
            <a:ext cx="28346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DynamicPattern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05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   (TOP-N / GROUP BY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980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키워드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455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후보 테이블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930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   (pg_trgm fulltext)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4" y="1508760"/>
            <a:ext cx="91440" cy="1097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83464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3441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스키마 링킹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965960"/>
            <a:ext cx="28346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103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후보 테이블 컬럼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505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7980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Graph JOIN 경로 탐색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1455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Dialect Rules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930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LinkedSchema 구성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1508760"/>
            <a:ext cx="91440" cy="1097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143000"/>
            <a:ext cx="2834640" cy="8229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3441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생성 (LLM)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965960"/>
            <a:ext cx="28346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103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System Prompt 조립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4505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   (규칙+패턴+Few-shot)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7980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User Prompt 조립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1455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   (스키마+질문)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4930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LLM 호출 → SQL 파싱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1704" y="1508760"/>
            <a:ext cx="91440" cy="1097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1143000"/>
            <a:ext cx="283464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13441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검증·보정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965960"/>
            <a:ext cx="28346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2103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EXPLAIN 문법 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4505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오류 시 LLM 재생성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7980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   (최대 3회)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1455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성공 시 캐시 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4930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최종 SQL 반환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577840"/>
            <a:ext cx="11731752" cy="594360"/>
          </a:xfrm>
          <a:prstGeom prst="rect">
            <a:avLst/>
          </a:prstGeom>
          <a:solidFill>
            <a:srgbClr val="E0F7F4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62356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E8A"/>
                </a:solidFill>
              </a:rPr>
              <a:t>💡  Semantic Cache: 유사 질문(TF-IDF ≥ 0.75) 감지 시 S1~S4를 건너뛰고 즉시 반환 → LLM 비용 최소화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UI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브라우저 기반 통합 관리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194560" cy="5394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pgxllm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627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9E8A"/>
                </a:solidFill>
              </a:rPr>
              <a:t>Query Test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677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▶ SQL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82549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🗂 Schema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272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3832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🔗 Graph 관계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  📋 Query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8678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  🔧 Query 튜닝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28853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54456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📐 Dialect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8463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10235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🗄 DB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40410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🤖 LLM 설정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1143000"/>
            <a:ext cx="306324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1207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 실행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1554480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1618488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직접 SQL + LLM 자연어 질문
캐시 히트 시 즉시 반환, 이력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008" y="1143000"/>
            <a:ext cx="30632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1207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Schema 탐색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9008" y="1554480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1618488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테이블·컬럼·인덱스 검색
↻ 재수집 버튼으로 즉시 갱신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1976" y="1143000"/>
            <a:ext cx="306324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4" y="1207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1976" y="1554480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1704" y="1618488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pg_stat 수집 → EXPLAIN 시각화
독점 수행시간·열색상 표시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2761488"/>
            <a:ext cx="30632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15768" y="28254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튜닝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172968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15768" y="3236976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LLM 최적화 제안
Plan/ANALYZE 전후 비교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9008" y="2761488"/>
            <a:ext cx="306324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88736" y="28254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Dialect Rules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79008" y="3172968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88736" y="3236976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컬럼별 SQL 작성 규칙
자동 감지 + 수동 등록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1976" y="2761488"/>
            <a:ext cx="30632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1704" y="28254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1976" y="3172968"/>
            <a:ext cx="306324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1704" y="3236976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Provider 실시간 전환
API Key 저장·테스트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5989320"/>
            <a:ext cx="9326880" cy="502920"/>
          </a:xfrm>
          <a:prstGeom prst="rect">
            <a:avLst/>
          </a:prstGeom>
          <a:solidFill>
            <a:srgbClr val="E6FBF7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6035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9E8A"/>
                </a:solidFill>
              </a:rPr>
              <a:t>💡  Topbar: 모든 페이지에서 '🤖 Provider · 모델명' 배지로 현재 활성 LLM을 항상 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쿼리 분석 — 실행계획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EXPLAIN ANALYZE 결과를 방향성 그래프로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실행계획 그래프 (예시)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00200"/>
            <a:ext cx="173736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173736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exclusive: 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23160"/>
            <a:ext cx="173736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173736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Hash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exclusive: 38%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73736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173736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Seq Scan
(orders)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exclusive: 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246120"/>
            <a:ext cx="173736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246120"/>
            <a:ext cx="173736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Hash
(customers)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57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exclusive: 49%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2286000"/>
            <a:ext cx="54864" cy="137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08760" y="3108960"/>
            <a:ext cx="54864" cy="137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108960"/>
            <a:ext cx="54864" cy="137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343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열 색상 범례 (Exclusive 비중)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54880"/>
            <a:ext cx="3200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&lt; 10%   정상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754880"/>
            <a:ext cx="3200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10~25%  주의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754880"/>
            <a:ext cx="3200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25~50%  병목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754880"/>
            <a:ext cx="3200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≥ 50%   주요 병목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$N 파라미터 처리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572768"/>
            <a:ext cx="548640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664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pg_stat_statements 추상화: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9933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SELECT * FROM orders
WHERE status = $1 AND date &gt; $2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$N → 에디터에서 빨간색 강조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파라미터 입력창에 실제 값 입력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Plan/ANALYZE 실행 시 자동 치환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▸  타입 자동 감지: 숫자/bool/null/문자열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노드 조건 아이콘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474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🔑 Index Cond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0474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⊕ Hash/Merge Cond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583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▽ 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3583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↕ Sort 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669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⚡ Join Filter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669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⊞ Group Key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LLM Provider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6가지 LLM 서비스 통합 — Web UI에서 실시간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92024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F5EA"/>
                </a:solidFill>
              </a:rPr>
              <a:t>로컬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http://localhost:11434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qwen2.5-coder:7b / 32b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인증 불필요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오프라인 운영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1136" y="1143000"/>
            <a:ext cx="192024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로컬/서버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31136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2576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OpenAI 호환 엔드포인트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http://localhost:8001/v1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API Key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2576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자체 모델 배포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1143000"/>
            <a:ext cx="192024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LM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F5EA"/>
                </a:solidFill>
              </a:rPr>
              <a:t>로컬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OpenAI 호환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http://localhost:1234/v1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GUI로 모델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인증 불필요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143000"/>
            <a:ext cx="192024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클라우드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api.openai.com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gpt-4o / gpt-4-turbo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OPENAI_API_KEY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또는 UI 직접 입력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38744" y="1143000"/>
            <a:ext cx="192024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4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Anthropic Claude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4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F5EA"/>
                </a:solidFill>
              </a:rPr>
              <a:t>클라우드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4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api.anthropic.com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4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claude-3-5-sonnet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4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ANTHROPIC_API_KEY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또는 UI 직접 입력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1143000"/>
            <a:ext cx="192024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119786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IBM watsonx.ai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1600200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클라우드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1874520"/>
            <a:ext cx="192024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us-south / eu-de / jp-tok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359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ibm/granite-34b-code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270662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IBM API Key 필요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0540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▸ Project ID 필요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257800"/>
            <a:ext cx="11731752" cy="822960"/>
          </a:xfrm>
          <a:prstGeom prst="rect">
            <a:avLst/>
          </a:prstGeom>
          <a:solidFill>
            <a:srgbClr val="E0F7F4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321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IBM watsonx.ai 지역 Endpoint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650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🇺🇸 us-south.ml.cloud.ibm.com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24328" y="5650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🇩🇪 eu-de.ml.cloud.ibm.com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7176" y="5650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🇬🇧 eu-gb.ml.cloud.ibm.com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24" y="5650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🇯🇵 jp-tok.ml.cloud.ibm.com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5650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🇦🇺 au-syd.ml.cloud.ibm.com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LLM 설정 — Web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서버 재시작 없이 실시간 LLM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11887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현재 활성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IBM watsonx.ai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ibm/granite-34b-code-instruct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6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https://us-south.ml.cloud.ibm.com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설정됨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600s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max_tokens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2048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8168" y="1508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temp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8168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① Provider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E8A"/>
                </a:solidFill>
              </a:rPr>
              <a:t>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88036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E8A"/>
                </a:solidFill>
              </a:rPr>
              <a:t>vLLM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40" y="288036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E8A"/>
                </a:solidFill>
              </a:rPr>
              <a:t>LM Studio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88036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E8A"/>
                </a:solidFill>
              </a:rPr>
              <a:t>OpenAI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88036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E8A"/>
                </a:solidFill>
              </a:rPr>
              <a:t>Anthropic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40" y="2880360"/>
            <a:ext cx="1783080" cy="438912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288036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IBM watsonx.ai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② 접속 정보 입력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593591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</a:rPr>
              <a:t>Endpoint URL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822191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886199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https://us-south.ml.cloud.ibm.com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9359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</a:rPr>
              <a:t>API 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822191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86199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•••••••••••••••••••••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297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</a:rPr>
              <a:t>Project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26280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59028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xxxxxxxx-xxxx-xxxx-xxxx-xxxxxxxxxxxx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9768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7280"/>
                </a:solidFill>
              </a:rPr>
              <a:t>Model 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52628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590288"/>
            <a:ext cx="6720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ibm/granite-34b-code-instruct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212080"/>
            <a:ext cx="2286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212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E8A"/>
                </a:solidFill>
              </a:rPr>
              <a:t>🔌  연결 테스트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5212080"/>
            <a:ext cx="1828800" cy="47548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40" y="52120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💾  저장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52852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연결 성공 — 모델: ibm/granite-34b-code-instruct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Internal DB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pgxllm 메타데이터 저장소 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0312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43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테이블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188720"/>
            <a:ext cx="320040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1243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용도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188720"/>
            <a:ext cx="612648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124358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주요 컬럼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17904"/>
            <a:ext cx="210312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72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db_registry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517904"/>
            <a:ext cx="32004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1572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등록된 Target DB 목록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517904"/>
            <a:ext cx="6126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5727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alias, host, port, dbname, schema_mode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47088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schema_catalog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184708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1901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수집된 스키마 (테이블·컬럼)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847088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19019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db_alias, table_name, column_name, data_type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176272"/>
            <a:ext cx="210312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graph_edges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176272"/>
            <a:ext cx="32004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22311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테이블 간 관계 그래프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176272"/>
            <a:ext cx="6126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23113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from_table, to_table, relation_type, approved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05456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graph_paths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250545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사전 계산된 JOIN 경로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505456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25603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from_table, to_table, path_json, depth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834640"/>
            <a:ext cx="210312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dialect_rules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834640"/>
            <a:ext cx="32004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0592" y="2889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컬럼별 SQL 작성 규칙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834640"/>
            <a:ext cx="6126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50992" y="288950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rule_id, table_name, column_name, instruction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16382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sql_patterns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316382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50592" y="3218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Dynamic SQL 패턴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163824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50992" y="321868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name, detect_keywords, template, enabled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493008"/>
            <a:ext cx="210312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3547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query_cache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3493008"/>
            <a:ext cx="32004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50592" y="3547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Semantic Cache (TF-IDF)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493008"/>
            <a:ext cx="6126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354787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question, sql, db_alias, hit_count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822192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8770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query_history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382219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50592" y="38770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쿼리 실행 이력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3822192"/>
            <a:ext cx="6126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87705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db_alias, mode, question, ok, duration_ms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151376"/>
            <a:ext cx="210312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llm_settings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4151376"/>
            <a:ext cx="32004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50592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LLM 설정 (UI 저장 시)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4151376"/>
            <a:ext cx="6126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50992" y="42062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provider, model, api_key, project_id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715000"/>
            <a:ext cx="11640312" cy="502920"/>
          </a:xfrm>
          <a:prstGeom prst="rect">
            <a:avLst/>
          </a:prstGeom>
          <a:solidFill>
            <a:srgbClr val="E0F7F4"/>
          </a:solidFill>
          <a:ln w="12700">
            <a:solidFill>
              <a:srgbClr val="0D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7607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9E8A"/>
                </a:solidFill>
              </a:rPr>
              <a:t>💡  모든 테이블은 pgxllm 스키마 내에 생성됩니다. CREATE TABLE IF NOT EXISTS 패턴으로 앱 시작 시 자동 생성.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설치 및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빠른 시작 가이드 및 자동화 명령어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설치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41148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환경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bash setup.sh
source .venv/bin/activate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87168"/>
            <a:ext cx="41148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4871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환경 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cp .env.example .env
# DB 접속 정보 입력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01568"/>
            <a:ext cx="41148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4015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DB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pgxllm db register
  --alias mydb --host localhost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15968"/>
            <a:ext cx="41148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3159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스키마 수집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pgxllm db refresh --alias mydb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30368"/>
            <a:ext cx="411480" cy="41148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230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303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서버 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046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make serve  # 프로덕션 (포트 8000)
make dev-backend + dev-frontend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CLI 명령어 (자동화·설정 전용)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72768"/>
            <a:ext cx="56692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pgxllm db register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9842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Target DB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258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--alias mydb --host db.example.com
--user postgres --dbname mydb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715768"/>
            <a:ext cx="56692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807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pgxllm db 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1272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스키마 재수집 (cron 자동화)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--alias mydb  또는  --all
--skip-samples --skip-rules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58768"/>
            <a:ext cx="56692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pgxllm 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2702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Web UI 서버 시작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--host 0.0.0.0 --port 8000
--reload (개발용)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01768"/>
            <a:ext cx="56692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093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pgxllm 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4132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E8A"/>
                </a:solidFill>
              </a:rPr>
              <a:t>BIRD Benchmark 평가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687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--file bird_dev.json --alias mydb
--output results/eval.json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REST API 레퍼런스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F5EA"/>
                </a:solidFill>
              </a:rPr>
              <a:t>Base URL: http://서버:8000/api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920240" cy="3657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9786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DB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18488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1848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1848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/db/list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3794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등록된 DB 목록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2140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2140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2140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/db/register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34086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DB 등록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2432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2432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243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/db/refresh/{alias}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284378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스키마 재수집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27248"/>
            <a:ext cx="502920" cy="2103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2724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2724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/db/{alias}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34670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DB 삭제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67712" y="1143000"/>
            <a:ext cx="192024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119786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쿼리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7712" y="1508760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59152" y="161848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161848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161848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/query/run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183794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SQL 직접 실행 / LLM 파이프라인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9152" y="2121408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212140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12140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/query/history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234086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실행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9152" y="2624328"/>
            <a:ext cx="502920" cy="2103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9152" y="262432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" y="26243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/query/cache/all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284378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전체 캐시 삭제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6824" y="1143000"/>
            <a:ext cx="1920240" cy="3657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119786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pg_stat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6824" y="1508760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8264" y="1618488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98264" y="161848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161848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/pgstat/{alias}/queries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183794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수집된 쿼리 목록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8264" y="212140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8264" y="212140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6904" y="212140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/pgstat/{alias}/query/tune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2" y="234086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LLM 튜닝 제안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98264" y="262432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8264" y="262432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6904" y="26243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/pgstat/{alias}/query/plan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6552" y="284378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EXPLAIN 실행계획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98264" y="3127248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98264" y="3127248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6904" y="312724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/pgstat/{alias}/query/describe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16552" y="334670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LLM 쿼리 설명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3858768"/>
            <a:ext cx="192024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91363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224528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433425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33425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433425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/graph/{alias}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" y="455371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관계 엣지 목록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837176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483717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83717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/graph/{alias}/approve-all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" y="505663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전체 승인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340096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34009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534009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/graph/{alias}/refresh-paths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" y="555955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경로 재계산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67712" y="3858768"/>
            <a:ext cx="1920240" cy="3657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59152" y="391363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LLM 설정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67712" y="4224528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59152" y="433425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59152" y="433425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07792" y="433425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/llm/providers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77440" y="455371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지원 Provider 목록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59152" y="483717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59152" y="483717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07792" y="483717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/llm/config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7440" y="505663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현재 설정 (API Key 마스킹)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59152" y="5340096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59152" y="534009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07792" y="534009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/llm/config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7440" y="555955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설정 저장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59152" y="5843016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59152" y="584301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07792" y="584301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/llm/test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7440" y="606247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연결 테스트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06824" y="3858768"/>
            <a:ext cx="192024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98264" y="391363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스키마 / Rules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06824" y="4224528"/>
            <a:ext cx="192024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98264" y="433425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98264" y="433425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46904" y="433425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/schema/{alias}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6552" y="455371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테이블·컬럼 목록 (?search=)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98264" y="483717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98264" y="483717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46904" y="483717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/schema/{alias}/indexes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16552" y="505663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인덱스 목록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98264" y="5340096"/>
            <a:ext cx="502920" cy="210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398264" y="534009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46904" y="534009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/rules/{alias}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16552" y="555955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Dialect Rules 목록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98264" y="5843016"/>
            <a:ext cx="502920" cy="21031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98264" y="5843016"/>
            <a:ext cx="502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46904" y="5843016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3A5F"/>
                </a:solidFill>
              </a:rPr>
              <a:t>/rules/{alias}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16552" y="606247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규칙 추가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pgxllm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9E8A"/>
                </a:solidFill>
              </a:rPr>
              <a:t>PostgreSQL Text-to-SQL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✓   4단계 파이프라인으로 자연어 → 정확한 SQL 변환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1246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✓   6가지 LLM Provider 지원 — 로컬부터 IBM watsonx.ai까지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1330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✓   Web UI에서 스키마·쿼리·관계·규칙 통합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537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✓   EXPLAIN ANALYZE 실행계획 시각화 + 독점 수행시간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97433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✓   TF-IDF Semantic Cache로 반복 질문 즉시 응답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자연어로 묻고, SQL로 답하다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pgxllm — PostgreSQL Text-to-SQL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556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